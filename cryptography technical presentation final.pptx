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2" r:id="rId4"/>
    <p:sldId id="259" r:id="rId5"/>
    <p:sldId id="261" r:id="rId6"/>
    <p:sldId id="262" r:id="rId7"/>
    <p:sldId id="269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16" autoAdjust="0"/>
    <p:restoredTop sz="94660"/>
  </p:normalViewPr>
  <p:slideViewPr>
    <p:cSldViewPr>
      <p:cViewPr varScale="1">
        <p:scale>
          <a:sx n="84" d="100"/>
          <a:sy n="84" d="100"/>
        </p:scale>
        <p:origin x="76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00C2B-72D1-4332-AA17-1EDAB03D7C7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20A3D-9535-4A3F-B960-4C1ED3852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38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7402" y="309562"/>
            <a:ext cx="6844665" cy="64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4850" y="220027"/>
            <a:ext cx="10782300" cy="1123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6300" y="1485904"/>
            <a:ext cx="5346700" cy="3096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4384" y="4534747"/>
            <a:ext cx="503224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 algn="ctr">
              <a:buFont typeface="Barlow"/>
              <a:buNone/>
            </a:pPr>
            <a:r>
              <a:rPr lang="e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</a:p>
          <a:p>
            <a:pPr marL="0" indent="0" algn="ctr">
              <a:buFont typeface="Barlow"/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Nithisha J</a:t>
            </a:r>
          </a:p>
          <a:p>
            <a:pPr marL="0" indent="0" algn="ctr">
              <a:buFont typeface="Barlow"/>
              <a:buNone/>
            </a:pPr>
            <a:r>
              <a:rPr lang="e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2000" y="4648200"/>
            <a:ext cx="196215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Presented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</a:t>
            </a:r>
            <a:r>
              <a:rPr lang="en-IN" sz="2400" b="1" spc="-2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97240" y="5140325"/>
            <a:ext cx="4419601" cy="642098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59"/>
              </a:spcBef>
            </a:pPr>
            <a:r>
              <a:rPr lang="en-US" dirty="0">
                <a:latin typeface="Times New Roman"/>
                <a:cs typeface="Times New Roman"/>
              </a:rPr>
              <a:t>N</a:t>
            </a:r>
            <a:r>
              <a:rPr lang="en-IN" dirty="0">
                <a:latin typeface="Times New Roman"/>
                <a:cs typeface="Times New Roman"/>
              </a:rPr>
              <a:t>.Sai Charan (192525247)</a:t>
            </a:r>
          </a:p>
          <a:p>
            <a:pPr marL="12700" marR="5080">
              <a:lnSpc>
                <a:spcPts val="2300"/>
              </a:lnSpc>
              <a:spcBef>
                <a:spcPts val="259"/>
              </a:spcBef>
            </a:pPr>
            <a:r>
              <a:rPr lang="en-IN" dirty="0" err="1">
                <a:latin typeface="Times New Roman"/>
                <a:cs typeface="Times New Roman"/>
              </a:rPr>
              <a:t>G.Nikhil</a:t>
            </a:r>
            <a:r>
              <a:rPr lang="en-IN" dirty="0">
                <a:latin typeface="Times New Roman"/>
                <a:cs typeface="Times New Roman"/>
              </a:rPr>
              <a:t> (192525393)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2514"/>
            <a:ext cx="11353799" cy="14251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D02C6-9602-8B45-5B9D-7419CB45D231}"/>
              </a:ext>
            </a:extLst>
          </p:cNvPr>
          <p:cNvSpPr txBox="1"/>
          <p:nvPr/>
        </p:nvSpPr>
        <p:spPr>
          <a:xfrm>
            <a:off x="1828800" y="2659718"/>
            <a:ext cx="975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CSA-5109 CRYPTOGRAPHY AND NETWORK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6B54D-4DF5-ED9E-726D-EF8B7BEA5F38}"/>
              </a:ext>
            </a:extLst>
          </p:cNvPr>
          <p:cNvSpPr txBox="1"/>
          <p:nvPr/>
        </p:nvSpPr>
        <p:spPr>
          <a:xfrm>
            <a:off x="1447800" y="3271041"/>
            <a:ext cx="990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Security Attacks, Threats, Risks and Their Impact on Security Goals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D8DB4C-21CA-7301-DBA1-B2484209DF10}"/>
              </a:ext>
            </a:extLst>
          </p:cNvPr>
          <p:cNvSpPr txBox="1"/>
          <p:nvPr/>
        </p:nvSpPr>
        <p:spPr>
          <a:xfrm>
            <a:off x="200675" y="963915"/>
            <a:ext cx="11506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41F6D-F26E-FBC2-6D38-60485ED7026B}"/>
              </a:ext>
            </a:extLst>
          </p:cNvPr>
          <p:cNvSpPr txBox="1"/>
          <p:nvPr/>
        </p:nvSpPr>
        <p:spPr>
          <a:xfrm>
            <a:off x="304800" y="1517913"/>
            <a:ext cx="10896600" cy="476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Security: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/>
              <a:t>Information security protects data and systems from unauthorized access, modification, or destruction.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potential cause of harm to an information system.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attempt to exploit a vulnerability.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possibility of loss when a threat exploits a vulnerability.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weakness in a system that can be exploited.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attacks, threats, and risks affect the security of digital information.</a:t>
            </a:r>
          </a:p>
          <a:p>
            <a:pPr algn="just">
              <a:lnSpc>
                <a:spcPct val="150000"/>
              </a:lnSpc>
            </a:pP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aveetha Institute of Medical and Technical Sciences -SIMATS ...">
            <a:extLst>
              <a:ext uri="{FF2B5EF4-FFF2-40B4-BE49-F238E27FC236}">
                <a16:creationId xmlns:a16="http://schemas.microsoft.com/office/drawing/2014/main" id="{D5561151-CAFB-B59B-1C0B-2EFBF0546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6" y="228600"/>
            <a:ext cx="738628" cy="738628"/>
          </a:xfrm>
          <a:prstGeom prst="rect">
            <a:avLst/>
          </a:prstGeom>
        </p:spPr>
      </p:pic>
      <p:pic>
        <p:nvPicPr>
          <p:cNvPr id="7" name="Picture 6" descr="SIMATS CGPA Calculator">
            <a:extLst>
              <a:ext uri="{FF2B5EF4-FFF2-40B4-BE49-F238E27FC236}">
                <a16:creationId xmlns:a16="http://schemas.microsoft.com/office/drawing/2014/main" id="{6C64460B-EB63-D52D-B836-33613ACBA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836" y="205526"/>
            <a:ext cx="697928" cy="758389"/>
          </a:xfrm>
          <a:prstGeom prst="rect">
            <a:avLst/>
          </a:prstGeom>
        </p:spPr>
      </p:pic>
      <p:pic>
        <p:nvPicPr>
          <p:cNvPr id="8" name="Picture 7" descr="Technological abstract background on the topic of information protection and computer security.">
            <a:extLst>
              <a:ext uri="{FF2B5EF4-FFF2-40B4-BE49-F238E27FC236}">
                <a16:creationId xmlns:a16="http://schemas.microsoft.com/office/drawing/2014/main" id="{AF166C74-A5CC-5D10-D5B8-B52353272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3200400"/>
            <a:ext cx="4379776" cy="18348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F0D9F-6E4F-83C9-B7AD-93A41F156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" y="2036802"/>
            <a:ext cx="5334000" cy="55399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3459E-5269-2746-8483-1A0F1C548A53}"/>
              </a:ext>
            </a:extLst>
          </p:cNvPr>
          <p:cNvSpPr txBox="1"/>
          <p:nvPr/>
        </p:nvSpPr>
        <p:spPr>
          <a:xfrm>
            <a:off x="685800" y="1013283"/>
            <a:ext cx="11125200" cy="603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or intercept data without altering it.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detect.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1) Eavesdropping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2)Traffic Analysis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Active Attacks: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Modify, interrupt, or destroy data.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Easier to detect but harder to prevent.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Malware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Phishing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Denial-of-Service (DoS) 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Man-in-the-Middle (MITM)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26379-669C-3E70-FF6A-B3DD1C488C6C}"/>
              </a:ext>
            </a:extLst>
          </p:cNvPr>
          <p:cNvSpPr txBox="1"/>
          <p:nvPr/>
        </p:nvSpPr>
        <p:spPr>
          <a:xfrm>
            <a:off x="489236" y="436094"/>
            <a:ext cx="10820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Security Attacks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aveetha Institute of Medical and Technical Sciences -SIMATS ...">
            <a:extLst>
              <a:ext uri="{FF2B5EF4-FFF2-40B4-BE49-F238E27FC236}">
                <a16:creationId xmlns:a16="http://schemas.microsoft.com/office/drawing/2014/main" id="{77E4BAEE-6710-7831-1C16-39D819219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6" y="228600"/>
            <a:ext cx="738628" cy="738628"/>
          </a:xfrm>
          <a:prstGeom prst="rect">
            <a:avLst/>
          </a:prstGeom>
        </p:spPr>
      </p:pic>
      <p:pic>
        <p:nvPicPr>
          <p:cNvPr id="8" name="Picture 7" descr="SIMATS CGPA Calculator">
            <a:extLst>
              <a:ext uri="{FF2B5EF4-FFF2-40B4-BE49-F238E27FC236}">
                <a16:creationId xmlns:a16="http://schemas.microsoft.com/office/drawing/2014/main" id="{C3F8DA83-A094-159E-08B8-034264C44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836" y="205526"/>
            <a:ext cx="697928" cy="758389"/>
          </a:xfrm>
          <a:prstGeom prst="rect">
            <a:avLst/>
          </a:prstGeom>
        </p:spPr>
      </p:pic>
      <p:pic>
        <p:nvPicPr>
          <p:cNvPr id="9" name="Picture 8" descr="Types of Attack | Types of Cyber Attack in Digital Landscape">
            <a:extLst>
              <a:ext uri="{FF2B5EF4-FFF2-40B4-BE49-F238E27FC236}">
                <a16:creationId xmlns:a16="http://schemas.microsoft.com/office/drawing/2014/main" id="{902BB7AE-3B99-301E-F855-980496592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473" y="1752600"/>
            <a:ext cx="5696015" cy="316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8E0F02-E621-6454-B4A8-FFDA21DEF9AE}"/>
              </a:ext>
            </a:extLst>
          </p:cNvPr>
          <p:cNvSpPr txBox="1"/>
          <p:nvPr/>
        </p:nvSpPr>
        <p:spPr>
          <a:xfrm>
            <a:off x="228600" y="4572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and Risk Assessment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58109-92BB-FD4E-D273-2A043E4BAB39}"/>
              </a:ext>
            </a:extLst>
          </p:cNvPr>
          <p:cNvSpPr txBox="1"/>
          <p:nvPr/>
        </p:nvSpPr>
        <p:spPr>
          <a:xfrm>
            <a:off x="685800" y="1219200"/>
            <a:ext cx="6897757" cy="5346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Threats: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(Virus, Worm, Trojan, Ransomware)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Disasters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or Software Failures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Process: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Assets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Threats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Vulnerabilities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Estimate Risk Level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Security Controls</a:t>
            </a:r>
            <a:endParaRPr lang="en-IN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Formula: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= Threat × Vulnerability × Impact</a:t>
            </a:r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aveetha Institute of Medical and Technical Sciences -SIMATS ...">
            <a:extLst>
              <a:ext uri="{FF2B5EF4-FFF2-40B4-BE49-F238E27FC236}">
                <a16:creationId xmlns:a16="http://schemas.microsoft.com/office/drawing/2014/main" id="{6E6BD160-AF9A-10F4-E00B-A1044C00A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6" y="228600"/>
            <a:ext cx="738628" cy="738628"/>
          </a:xfrm>
          <a:prstGeom prst="rect">
            <a:avLst/>
          </a:prstGeom>
        </p:spPr>
      </p:pic>
      <p:pic>
        <p:nvPicPr>
          <p:cNvPr id="7" name="Picture 6" descr="SIMATS CGPA Calculator">
            <a:extLst>
              <a:ext uri="{FF2B5EF4-FFF2-40B4-BE49-F238E27FC236}">
                <a16:creationId xmlns:a16="http://schemas.microsoft.com/office/drawing/2014/main" id="{7BD6D225-A367-B9D1-5180-2AB48CDB4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836" y="205526"/>
            <a:ext cx="697928" cy="758389"/>
          </a:xfrm>
          <a:prstGeom prst="rect">
            <a:avLst/>
          </a:prstGeom>
        </p:spPr>
      </p:pic>
      <p:pic>
        <p:nvPicPr>
          <p:cNvPr id="8" name="Picture 7" descr="Cybersecurity Risk Management: Frameworks, Plans, &amp; Best Practices - Security Boulevard">
            <a:extLst>
              <a:ext uri="{FF2B5EF4-FFF2-40B4-BE49-F238E27FC236}">
                <a16:creationId xmlns:a16="http://schemas.microsoft.com/office/drawing/2014/main" id="{4861681D-D2AF-FDDB-ABE3-B088D7578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262872"/>
            <a:ext cx="2730900" cy="51405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DDD7DF-D60A-49D4-5BF6-C4A2683C5E33}"/>
              </a:ext>
            </a:extLst>
          </p:cNvPr>
          <p:cNvSpPr txBox="1"/>
          <p:nvPr/>
        </p:nvSpPr>
        <p:spPr>
          <a:xfrm>
            <a:off x="381000" y="53340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Security Goals (CIA Triad)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B4C14-80EB-D037-70C7-B13A05B69892}"/>
              </a:ext>
            </a:extLst>
          </p:cNvPr>
          <p:cNvSpPr txBox="1"/>
          <p:nvPr/>
        </p:nvSpPr>
        <p:spPr>
          <a:xfrm>
            <a:off x="762000" y="1143000"/>
            <a:ext cx="7086600" cy="5844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access to information.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Encryption, Authentication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remains accurate and unaltered.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Hashing, Digital Signatures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systems and data are accessible when needed.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Backups, Firewalls, Redundant Servers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Security Goals: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 </a:t>
            </a:r>
          </a:p>
          <a:p>
            <a:pPr>
              <a:lnSpc>
                <a:spcPct val="150000"/>
              </a:lnSpc>
            </a:pPr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aveetha Institute of Medical and Technical Sciences -SIMATS ...">
            <a:extLst>
              <a:ext uri="{FF2B5EF4-FFF2-40B4-BE49-F238E27FC236}">
                <a16:creationId xmlns:a16="http://schemas.microsoft.com/office/drawing/2014/main" id="{5E5F7150-03B7-E5EB-B467-E5FD534EE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6" y="228600"/>
            <a:ext cx="738628" cy="738628"/>
          </a:xfrm>
          <a:prstGeom prst="rect">
            <a:avLst/>
          </a:prstGeom>
        </p:spPr>
      </p:pic>
      <p:pic>
        <p:nvPicPr>
          <p:cNvPr id="6" name="Picture 5" descr="SIMATS CGPA Calculator">
            <a:extLst>
              <a:ext uri="{FF2B5EF4-FFF2-40B4-BE49-F238E27FC236}">
                <a16:creationId xmlns:a16="http://schemas.microsoft.com/office/drawing/2014/main" id="{AFDDF2A1-DD55-8851-61F9-59B9990C1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836" y="205526"/>
            <a:ext cx="697928" cy="758389"/>
          </a:xfrm>
          <a:prstGeom prst="rect">
            <a:avLst/>
          </a:prstGeom>
        </p:spPr>
      </p:pic>
      <p:pic>
        <p:nvPicPr>
          <p:cNvPr id="8" name="Picture 7" descr="Siber Güvenlikte Bilgi Güvenliği Konsepti: CIA Üçlüsü | Furkan Ayteş">
            <a:extLst>
              <a:ext uri="{FF2B5EF4-FFF2-40B4-BE49-F238E27FC236}">
                <a16:creationId xmlns:a16="http://schemas.microsoft.com/office/drawing/2014/main" id="{7E66E401-7BB2-7380-A8B4-6E5A76DF6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326" y="1291789"/>
            <a:ext cx="5973674" cy="52418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94EE00D3-65F5-4734-87C0-9A3DAA900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612296"/>
            <a:ext cx="10972800" cy="113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US" dirty="0"/>
            </a:b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5F20B-07C6-FF24-1F85-687FB0B4CD1D}"/>
              </a:ext>
            </a:extLst>
          </p:cNvPr>
          <p:cNvSpPr txBox="1"/>
          <p:nvPr/>
        </p:nvSpPr>
        <p:spPr>
          <a:xfrm>
            <a:off x="152400" y="838200"/>
            <a:ext cx="11658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Prevention, Best Practices &amp; Conclusion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FDD48-4EC4-0259-F4C3-11DF372C4711}"/>
              </a:ext>
            </a:extLst>
          </p:cNvPr>
          <p:cNvSpPr txBox="1"/>
          <p:nvPr/>
        </p:nvSpPr>
        <p:spPr>
          <a:xfrm>
            <a:off x="990600" y="1676400"/>
            <a:ext cx="9753600" cy="488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Techniques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Passwords and Multi-Factor Authentication (MFA)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Firewalls and Antivirus Software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Software Updates and Patch Management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Awareness Training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Backups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and Prevention Systems (IDS/IPS)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Conclusion: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Security attacks exploit vulnerabilities to compromise systems.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Identifying threats and managing risks helps protect valuable information.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A combination of technology, policies, and user awareness is essential for maintaining information security.</a:t>
            </a:r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aveetha Institute of Medical and Technical Sciences -SIMATS ...">
            <a:extLst>
              <a:ext uri="{FF2B5EF4-FFF2-40B4-BE49-F238E27FC236}">
                <a16:creationId xmlns:a16="http://schemas.microsoft.com/office/drawing/2014/main" id="{C35A6763-F80A-DB3B-9002-6170A81E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6" y="228600"/>
            <a:ext cx="738628" cy="738628"/>
          </a:xfrm>
          <a:prstGeom prst="rect">
            <a:avLst/>
          </a:prstGeom>
        </p:spPr>
      </p:pic>
      <p:pic>
        <p:nvPicPr>
          <p:cNvPr id="5" name="Picture 4" descr="SIMATS CGPA Calculator">
            <a:extLst>
              <a:ext uri="{FF2B5EF4-FFF2-40B4-BE49-F238E27FC236}">
                <a16:creationId xmlns:a16="http://schemas.microsoft.com/office/drawing/2014/main" id="{34B74B5C-0E4B-6A49-215B-358F100E6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836" y="205526"/>
            <a:ext cx="697928" cy="758389"/>
          </a:xfrm>
          <a:prstGeom prst="rect">
            <a:avLst/>
          </a:prstGeom>
        </p:spPr>
      </p:pic>
      <p:pic>
        <p:nvPicPr>
          <p:cNvPr id="6" name="Picture 5" descr="Basic Guide to Securing Your Computer from Identity Thieves - Hongkiat">
            <a:extLst>
              <a:ext uri="{FF2B5EF4-FFF2-40B4-BE49-F238E27FC236}">
                <a16:creationId xmlns:a16="http://schemas.microsoft.com/office/drawing/2014/main" id="{96A5CD48-0DEB-5657-9DBB-3C0011908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732968"/>
            <a:ext cx="3025471" cy="30254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2514600"/>
            <a:ext cx="6440488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31540" algn="l"/>
              </a:tabLst>
            </a:pPr>
            <a:r>
              <a:rPr sz="9600" spc="-10" dirty="0">
                <a:latin typeface="Times New Roman"/>
                <a:cs typeface="Times New Roman"/>
              </a:rPr>
              <a:t>Thank</a:t>
            </a:r>
            <a:r>
              <a:rPr sz="9600" dirty="0">
                <a:latin typeface="Times New Roman"/>
                <a:cs typeface="Times New Roman"/>
              </a:rPr>
              <a:t>	</a:t>
            </a:r>
            <a:r>
              <a:rPr lang="en-IN" sz="9600" dirty="0">
                <a:latin typeface="Times New Roman"/>
                <a:cs typeface="Times New Roman"/>
              </a:rPr>
              <a:t> </a:t>
            </a:r>
            <a:r>
              <a:rPr sz="9600" spc="-25" dirty="0">
                <a:latin typeface="Times New Roman"/>
                <a:cs typeface="Times New Roman"/>
              </a:rPr>
              <a:t>you</a:t>
            </a:r>
            <a:r>
              <a:rPr lang="en-IN" sz="9600" spc="-25" dirty="0">
                <a:latin typeface="Times New Roman"/>
                <a:cs typeface="Times New Roman"/>
              </a:rPr>
              <a:t> ! </a:t>
            </a:r>
            <a:endParaRPr sz="9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</TotalTime>
  <Words>398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Barlow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you 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format.docx</dc:title>
  <dc:creator>NEERAJ</dc:creator>
  <cp:lastModifiedBy>Sai Charan Nagavarapu</cp:lastModifiedBy>
  <cp:revision>15</cp:revision>
  <dcterms:created xsi:type="dcterms:W3CDTF">2026-01-03T09:08:42Z</dcterms:created>
  <dcterms:modified xsi:type="dcterms:W3CDTF">2026-07-27T05:32:05Z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2026-01-03T00:00:00Z</vt:filetime>
  </property>
  <property fmtid="{D5CDD505-2E9C-101B-9397-08002B2CF9AE}" pid="3" name="Producer">
    <vt:lpwstr>Skia/PDF m145 Google Docs Renderer</vt:lpwstr>
  </property>
  <property fmtid="{D5CDD505-2E9C-101B-9397-08002B2CF9AE}" pid="4" name="LastSaved">
    <vt:filetime>2026-01-03T00:00:00Z</vt:filetime>
  </property>
</Properties>
</file>